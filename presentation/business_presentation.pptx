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5740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/>
            </a:pPr>
            <a:r>
              <a:t>Customer Churn Business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24612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Week 8 Capstone Project | The Developers Arena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Business Problem &amp;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Customer churn can reduce recurring revenue and increase customer replacement costs.</a:t>
            </a:r>
          </a:p>
          <a:p>
            <a:pPr>
              <a:spcAft>
                <a:spcPts val="1200"/>
              </a:spcAft>
              <a:defRPr sz="1900"/>
            </a:pPr>
            <a:r>
              <a:t>The objective is to identify customer groups associated with higher churn.</a:t>
            </a:r>
          </a:p>
          <a:p>
            <a:pPr>
              <a:spcAft>
                <a:spcPts val="1200"/>
              </a:spcAft>
              <a:defRPr sz="1900"/>
            </a:pPr>
            <a:r>
              <a:t>Translate analytical findings into targeted retention actions.</a:t>
            </a:r>
          </a:p>
          <a:p>
            <a:pPr>
              <a:spcAft>
                <a:spcPts val="1200"/>
              </a:spcAft>
              <a:defRPr sz="1900"/>
            </a:pPr>
            <a:r>
              <a:t>Support decisions using EDA, statistical testing, segmentation, and scenario analysis.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Dataset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500 customer records and 9 variables.</a:t>
            </a:r>
          </a:p>
          <a:p>
            <a:pPr>
              <a:spcAft>
                <a:spcPts val="1200"/>
              </a:spcAft>
              <a:defRPr sz="1900"/>
            </a:pPr>
            <a:r>
              <a:t>Target variable: Churn.</a:t>
            </a:r>
          </a:p>
          <a:p>
            <a:pPr>
              <a:spcAft>
                <a:spcPts val="1200"/>
              </a:spcAft>
              <a:defRPr sz="1900"/>
            </a:pPr>
            <a:r>
              <a:t>Numerical variables: Tenure, MonthlyCharges, TotalCharges, SeniorCitizen, Churn.</a:t>
            </a:r>
          </a:p>
          <a:p>
            <a:pPr>
              <a:spcAft>
                <a:spcPts val="1200"/>
              </a:spcAft>
              <a:defRPr sz="1900"/>
            </a:pPr>
            <a:r>
              <a:t>Categorical variables: Contract, PaymentMethod, PaperlessBilling.</a:t>
            </a:r>
          </a:p>
          <a:p>
            <a:pPr>
              <a:spcAft>
                <a:spcPts val="1200"/>
              </a:spcAft>
              <a:defRPr sz="1900"/>
            </a:pPr>
            <a:r>
              <a:t>Data quality checks found no missing values or duplicate rows.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Executive KPI Snapshot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2468880" cy="1828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/>
            </a:pPr>
            <a:r>
              <a:t>500</a:t>
            </a:r>
          </a:p>
          <a:p>
            <a:pPr algn="ctr">
              <a:defRPr sz="1300"/>
            </a:pPr>
            <a:r>
              <a:t>Customers analyzed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828800"/>
            <a:ext cx="2468880" cy="1828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/>
            </a:pPr>
            <a:r>
              <a:t>53</a:t>
            </a:r>
          </a:p>
          <a:p>
            <a:pPr algn="ctr">
              <a:defRPr sz="1300"/>
            </a:pPr>
            <a:r>
              <a:t>Churned customers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828800"/>
            <a:ext cx="2468880" cy="1828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/>
            </a:pPr>
            <a:r>
              <a:t>10.60%</a:t>
            </a:r>
          </a:p>
          <a:p>
            <a:pPr algn="ctr">
              <a:defRPr sz="1300"/>
            </a:pPr>
            <a:r>
              <a:t>Overall churn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828800"/>
            <a:ext cx="2468880" cy="1828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/>
            </a:pPr>
            <a:r>
              <a:t>447</a:t>
            </a:r>
          </a:p>
          <a:p>
            <a:pPr algn="ctr">
              <a:defRPr sz="1300"/>
            </a:pPr>
            <a:r>
              <a:t>Retained customers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97680"/>
            <a:ext cx="10241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Baseline: 10.60% observed churn across the dataset.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Overall Churn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79" y="155448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t>447 customers were retained.</a:t>
            </a:r>
          </a:p>
          <a:p>
            <a:pPr>
              <a:spcAft>
                <a:spcPts val="1200"/>
              </a:spcAft>
              <a:defRPr sz="1700"/>
            </a:pPr>
            <a:r>
              <a:t>53 customers churned.</a:t>
            </a:r>
          </a:p>
          <a:p>
            <a:pPr>
              <a:spcAft>
                <a:spcPts val="1200"/>
              </a:spcAft>
              <a:defRPr sz="1700"/>
            </a:pPr>
            <a:r>
              <a:t>Observed churn rate: 10.60%.</a:t>
            </a:r>
          </a:p>
          <a:p>
            <a:pPr>
              <a:spcAft>
                <a:spcPts val="1200"/>
              </a:spcAft>
              <a:defRPr sz="1700"/>
            </a:pPr>
            <a:r>
              <a:t>This baseline is used to compare customer segments.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Contract Type Is a Major Churn Signal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52360" y="1417320"/>
            <a:ext cx="4023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/>
            </a:pPr>
            <a:r>
              <a:t>Month-to-month: 20.59% churn.</a:t>
            </a:r>
          </a:p>
          <a:p>
            <a:pPr>
              <a:spcAft>
                <a:spcPts val="1200"/>
              </a:spcAft>
              <a:defRPr sz="1500"/>
            </a:pPr>
            <a:r>
              <a:t>Two-year: 6.94% churn.</a:t>
            </a:r>
          </a:p>
          <a:p>
            <a:pPr>
              <a:spcAft>
                <a:spcPts val="1200"/>
              </a:spcAft>
              <a:defRPr sz="1500"/>
            </a:pPr>
            <a:r>
              <a:t>One-year: 4.30% churn.</a:t>
            </a:r>
          </a:p>
          <a:p>
            <a:pPr>
              <a:spcAft>
                <a:spcPts val="1200"/>
              </a:spcAft>
              <a:defRPr sz="1500"/>
            </a:pPr>
            <a:r>
              <a:t>Contract type is significantly associated with churn.</a:t>
            </a:r>
          </a:p>
          <a:p>
            <a:pPr>
              <a:spcAft>
                <a:spcPts val="1200"/>
              </a:spcAft>
              <a:defRPr sz="1500"/>
            </a:pPr>
            <a:r>
              <a:t>Cramér's V = 0.2354: moderate association.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The First 12 Months Are Critical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52360" y="150876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0–12 months: 63.10% observed churn.</a:t>
            </a:r>
          </a:p>
          <a:p>
            <a:pPr>
              <a:spcAft>
                <a:spcPts val="1200"/>
              </a:spcAft>
              <a:defRPr sz="1600"/>
            </a:pPr>
            <a:r>
              <a:t>53 of 53 observed churn cases occur in this group.</a:t>
            </a:r>
          </a:p>
          <a:p>
            <a:pPr>
              <a:spcAft>
                <a:spcPts val="1200"/>
              </a:spcAft>
              <a:defRPr sz="1600"/>
            </a:pPr>
            <a:r>
              <a:t>13+ month groups show 0% observed churn in this dataset.</a:t>
            </a:r>
          </a:p>
          <a:p>
            <a:pPr>
              <a:spcAft>
                <a:spcPts val="1200"/>
              </a:spcAft>
              <a:defRPr sz="1600"/>
            </a:pPr>
            <a:r>
              <a:t>Prioritize onboarding and early engagement.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Monthly Charges Differ Across Churn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52360" y="1417320"/>
            <a:ext cx="4023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/>
            </a:pPr>
            <a:r>
              <a:t>Retained average: 111.72.</a:t>
            </a:r>
          </a:p>
          <a:p>
            <a:pPr>
              <a:spcAft>
                <a:spcPts val="1200"/>
              </a:spcAft>
              <a:defRPr sz="1500"/>
            </a:pPr>
            <a:r>
              <a:t>Churned average: 129.77.</a:t>
            </a:r>
          </a:p>
          <a:p>
            <a:pPr>
              <a:spcAft>
                <a:spcPts val="1200"/>
              </a:spcAft>
              <a:defRPr sz="1500"/>
            </a:pPr>
            <a:r>
              <a:t>Difference: 18.05.</a:t>
            </a:r>
          </a:p>
          <a:p>
            <a:pPr>
              <a:spcAft>
                <a:spcPts val="1200"/>
              </a:spcAft>
              <a:defRPr sz="1500"/>
            </a:pPr>
            <a:r>
              <a:t>Independent t-test p = 0.0101.</a:t>
            </a:r>
          </a:p>
          <a:p>
            <a:pPr>
              <a:spcAft>
                <a:spcPts val="1200"/>
              </a:spcAft>
              <a:defRPr sz="1500"/>
            </a:pPr>
            <a:r>
              <a:t>Higher charges may warrant a value/pricing review.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Statistical Validation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554480"/>
          <a:ext cx="1060704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743200"/>
                <a:gridCol w="4206240"/>
              </a:tblGrid>
              <a:tr h="621792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Result</a:t>
                      </a:r>
                    </a:p>
                  </a:txBody>
                  <a:tcPr/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Monthly Charges vs Churn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Independent t-test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p = 0.0101 — Significant</a:t>
                      </a:r>
                    </a:p>
                  </a:txBody>
                  <a:tcPr/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Tenure vs Churn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Independent t-test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p &lt; 0.001 — Significant</a:t>
                      </a:r>
                    </a:p>
                  </a:txBody>
                  <a:tcPr/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Contract Type vs Churn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Chi-square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p &lt; 0.001 — Significant</a:t>
                      </a:r>
                    </a:p>
                  </a:txBody>
                  <a:tcPr/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Contract effect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Cramér's 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0.2354 — Moderate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4800600"/>
            <a:ext cx="10241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All three hypothesis tests are statistically significant at α = 0.05.</a:t>
            </a:r>
          </a:p>
          <a:p>
            <a:pPr>
              <a:spcAft>
                <a:spcPts val="1200"/>
              </a:spcAft>
              <a:defRPr sz="1600"/>
            </a:pPr>
            <a:r>
              <a:t>Statistical significance indicates evidence of association/difference, not causation.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Highest-Priority Customer Segment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52360" y="1325880"/>
            <a:ext cx="4023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/>
            </a:pPr>
            <a:r>
              <a:t>High-risk segment: 21 customers, 100% observed churn.</a:t>
            </a:r>
          </a:p>
          <a:p>
            <a:pPr>
              <a:spcAft>
                <a:spcPts val="1200"/>
              </a:spcAft>
              <a:defRPr sz="1400"/>
            </a:pPr>
            <a:r>
              <a:t>Highest-priority combined segment: month-to-month + 0–12 months.</a:t>
            </a:r>
          </a:p>
          <a:p>
            <a:pPr>
              <a:spcAft>
                <a:spcPts val="1200"/>
              </a:spcAft>
              <a:defRPr sz="1400"/>
            </a:pPr>
            <a:r>
              <a:t>That combined segment contains 35 customers with 100% observed churn.</a:t>
            </a:r>
          </a:p>
          <a:p>
            <a:pPr>
              <a:spcAft>
                <a:spcPts val="1200"/>
              </a:spcAft>
              <a:defRPr sz="1400"/>
            </a:pPr>
            <a:r>
              <a:t>Use risk segmentation to prioritize, not to replace a production predictive model.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Recommendations &amp; 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/>
            </a:pPr>
            <a:r>
              <a:t>1. Strengthen first-year onboarding with 30/60/90-day engagement checkpoints.</a:t>
            </a:r>
          </a:p>
          <a:p>
            <a:pPr>
              <a:spcAft>
                <a:spcPts val="1200"/>
              </a:spcAft>
              <a:defRPr sz="1500"/>
            </a:pPr>
            <a:r>
              <a:t>2. Target suitable month-to-month customers with contract-upgrade incentives.</a:t>
            </a:r>
          </a:p>
          <a:p>
            <a:pPr>
              <a:spcAft>
                <a:spcPts val="1200"/>
              </a:spcAft>
              <a:defRPr sz="1500"/>
            </a:pPr>
            <a:r>
              <a:t>3. Create proactive outreach for customers with multiple risk indicators.</a:t>
            </a:r>
          </a:p>
          <a:p>
            <a:pPr>
              <a:spcAft>
                <a:spcPts val="1200"/>
              </a:spcAft>
              <a:defRPr sz="1500"/>
            </a:pPr>
            <a:r>
              <a:t>4. Review pricing/value perception among higher-charge customers.</a:t>
            </a:r>
          </a:p>
          <a:p>
            <a:pPr>
              <a:spcAft>
                <a:spcPts val="1200"/>
              </a:spcAft>
              <a:defRPr sz="1500"/>
            </a:pPr>
            <a:r>
              <a:t>5. Measure churn, retention, contract conversion, campaign response, and customers retained.</a:t>
            </a:r>
          </a:p>
          <a:p>
            <a:pPr>
              <a:spcAft>
                <a:spcPts val="1200"/>
              </a:spcAft>
              <a:defRPr sz="1500"/>
            </a:pPr>
            <a:r>
              <a:t>6. Use controlled testing before scaling major retention campaigns.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Conclusion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Observed churn rate: 10.60% across 500 customers.</a:t>
            </a:r>
          </a:p>
          <a:p>
            <a:pPr>
              <a:spcAft>
                <a:spcPts val="1200"/>
              </a:spcAft>
              <a:defRPr sz="1600"/>
            </a:pPr>
            <a:r>
              <a:t>Early tenure and contract type are the strongest practical priorities.</a:t>
            </a:r>
          </a:p>
          <a:p>
            <a:pPr>
              <a:spcAft>
                <a:spcPts val="1200"/>
              </a:spcAft>
              <a:defRPr sz="1600"/>
            </a:pPr>
            <a:r>
              <a:t>The highest-risk combined segment is month-to-month + 0–12 months.</a:t>
            </a:r>
          </a:p>
          <a:p>
            <a:pPr>
              <a:spcAft>
                <a:spcPts val="1200"/>
              </a:spcAft>
              <a:defRPr sz="1600"/>
            </a:pPr>
            <a:r>
              <a:t>Scenario analysis: retaining 20%, 30%, or 40% of 35 observed churned customers corresponds to approximately 7, 10, or 14 customers retained.</a:t>
            </a:r>
          </a:p>
          <a:p>
            <a:pPr>
              <a:spcAft>
                <a:spcPts val="1200"/>
              </a:spcAft>
              <a:defRPr sz="1600"/>
            </a:pPr>
            <a:r>
              <a:t>Validate these findings with larger, representative real-world data before production use.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